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689" r:id="rId1"/>
  </p:sldMasterIdLst>
  <p:notesMasterIdLst>
    <p:notesMasterId r:id="rId5"/>
  </p:notesMasterIdLst>
  <p:handoutMasterIdLst>
    <p:handoutMasterId r:id="rId6"/>
  </p:handoutMasterIdLst>
  <p:sldIdLst>
    <p:sldId id="261" r:id="rId2"/>
    <p:sldId id="262" r:id="rId3"/>
    <p:sldId id="263" r:id="rId4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itchFamily="34" charset="0"/>
        <a:ea typeface="ＭＳ Ｐゴシック" pitchFamily="34" charset="-128"/>
      </a:defRPr>
    </a:lvl1pPr>
    <a:lvl2pPr marL="4572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itchFamily="34" charset="0"/>
        <a:ea typeface="ＭＳ Ｐゴシック" pitchFamily="34" charset="-128"/>
      </a:defRPr>
    </a:lvl2pPr>
    <a:lvl3pPr marL="9144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itchFamily="34" charset="0"/>
        <a:ea typeface="ＭＳ Ｐゴシック" pitchFamily="34" charset="-128"/>
      </a:defRPr>
    </a:lvl3pPr>
    <a:lvl4pPr marL="13716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itchFamily="34" charset="0"/>
        <a:ea typeface="ＭＳ Ｐゴシック" pitchFamily="34" charset="-128"/>
      </a:defRPr>
    </a:lvl4pPr>
    <a:lvl5pPr marL="18288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itchFamily="34" charset="0"/>
        <a:ea typeface="ＭＳ Ｐゴシック" pitchFamily="34" charset="-128"/>
      </a:defRPr>
    </a:lvl5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86"/>
    <p:restoredTop sz="87370"/>
  </p:normalViewPr>
  <p:slideViewPr>
    <p:cSldViewPr>
      <p:cViewPr>
        <p:scale>
          <a:sx n="160" d="100"/>
          <a:sy n="160" d="100"/>
        </p:scale>
        <p:origin x="282" y="-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ea typeface="ＭＳ Ｐゴシック" pitchFamily="34" charset="-128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4099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  <a:ea typeface="ＭＳ Ｐゴシック" pitchFamily="34" charset="-128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17B615-C876-4B87-997A-F321F976F354}" type="hfDateTime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ea typeface="ＭＳ Ｐゴシック" pitchFamily="34" charset="-128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4101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numCol="1" anchor="b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ＭＳ Ｐゴシック" pitchFamily="34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ＭＳ Ｐゴシック" pitchFamily="34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ＭＳ Ｐゴシック" pitchFamily="34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ＭＳ Ｐゴシック" pitchFamily="34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ＭＳ Ｐゴシック" pitchFamily="34" charset="-128"/>
              </a:defRPr>
            </a:lvl5pPr>
          </a:lstStyle>
          <a:p>
            <a:pPr marL="0" lvl="0" indent="0" algn="r" eaLnBrk="1" hangingPunct="1"/>
            <a:fld id="{7736D9F4-CEDA-41BF-95EB-B58D0AABF97B}" type="slidenum">
              <a:rPr lang="en-US" altLang="en-US" sz="1200">
                <a:latin typeface="Calibri" pitchFamily="34" charset="0"/>
              </a:rPr>
              <a:t>‹Nº›</a:t>
            </a:fld>
            <a:endParaRPr lang="en-US" altLang="en-US" sz="12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  <a:ea typeface="ＭＳ Ｐゴシック" pitchFamily="34" charset="-128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307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ea typeface="ＭＳ Ｐゴシック" pitchFamily="34" charset="-128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5F84B5-E5E8-4C35-824D-0929C2A45FB2}" type="hfDateTime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307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  <a:miter lim="800000"/>
          </a:ln>
        </p:spPr>
      </p:sp>
      <p:sp>
        <p:nvSpPr>
          <p:cNvPr id="307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+mn-cs"/>
              </a:rPr>
              <a:t>Click to edit Master text styles</a:t>
            </a:r>
          </a:p>
          <a:p>
            <a:pPr marL="457200" marR="0" lvl="1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+mn-cs"/>
              </a:rPr>
              <a:t>Second level</a:t>
            </a:r>
          </a:p>
          <a:p>
            <a:pPr marL="914400" marR="0" lvl="2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+mn-cs"/>
              </a:rPr>
              <a:t>Third level</a:t>
            </a:r>
          </a:p>
          <a:p>
            <a:pPr marL="1371600" marR="0" lvl="3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+mn-cs"/>
              </a:rPr>
              <a:t>Fourth level</a:t>
            </a:r>
          </a:p>
          <a:p>
            <a:pPr marL="1828800" marR="0" lvl="4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+mn-cs"/>
              </a:rPr>
              <a:t>Fifth level</a:t>
            </a:r>
          </a:p>
        </p:txBody>
      </p:sp>
      <p:sp>
        <p:nvSpPr>
          <p:cNvPr id="307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  <a:ea typeface="ＭＳ Ｐゴシック" pitchFamily="34" charset="-128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307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numCol="1" anchor="b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ＭＳ Ｐゴシック" pitchFamily="34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ＭＳ Ｐゴシック" pitchFamily="34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ＭＳ Ｐゴシック" pitchFamily="34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ＭＳ Ｐゴシック" pitchFamily="34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ＭＳ Ｐゴシック" pitchFamily="34" charset="-128"/>
              </a:defRPr>
            </a:lvl5pPr>
          </a:lstStyle>
          <a:p>
            <a:pPr marL="0" lvl="0" indent="0" algn="r" eaLnBrk="1" hangingPunct="1"/>
            <a:fld id="{D838940E-0A9A-4078-B92A-1CA53B8DE43F}" type="slidenum">
              <a:rPr lang="en-US" altLang="en-US" sz="1200"/>
              <a:t>‹Nº›</a:t>
            </a:fld>
            <a:endParaRPr lang="en-US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miter lim="800000"/>
          </a:ln>
        </p:spPr>
      </p:sp>
      <p:sp>
        <p:nvSpPr>
          <p:cNvPr id="6147" name="Notes Placeholder 2"/>
          <p:cNvSpPr>
            <a:spLocks noGrp="1"/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4572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Calibri" pitchFamily="34" charset="0"/>
                <a:ea typeface="ＭＳ Ｐゴシック" pitchFamily="34" charset="-128"/>
              </a:defRPr>
            </a:lvl1pPr>
            <a:lvl2pPr marL="457200" indent="0" algn="l" defTabSz="4572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Calibri" pitchFamily="34" charset="0"/>
                <a:ea typeface="ＭＳ Ｐゴシック" pitchFamily="34" charset="-128"/>
              </a:defRPr>
            </a:lvl2pPr>
            <a:lvl3pPr marL="914400" indent="0" algn="l" defTabSz="4572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Calibri" pitchFamily="34" charset="0"/>
                <a:ea typeface="ＭＳ Ｐゴシック" pitchFamily="34" charset="-128"/>
              </a:defRPr>
            </a:lvl3pPr>
            <a:lvl4pPr marL="1371600" indent="0" algn="l" defTabSz="4572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Calibri" pitchFamily="34" charset="0"/>
                <a:ea typeface="ＭＳ Ｐゴシック" pitchFamily="34" charset="-128"/>
              </a:defRPr>
            </a:lvl4pPr>
            <a:lvl5pPr marL="1828800" indent="0" algn="l" defTabSz="4572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Calibri" pitchFamily="34" charset="0"/>
                <a:ea typeface="ＭＳ Ｐゴシック" pitchFamily="34" charset="-128"/>
              </a:defRPr>
            </a:lvl5pPr>
          </a:lstStyle>
          <a:p>
            <a:pPr marL="0" lvl="0" indent="0"/>
            <a:r>
              <a:rPr lang="en-US" altLang="en-US" b="1" dirty="0">
                <a:latin typeface="Arial" pitchFamily="34" charset="0"/>
                <a:ea typeface="Arial" pitchFamily="34" charset="0"/>
              </a:rPr>
              <a:t>Figure 9 </a:t>
            </a:r>
            <a:r>
              <a:rPr lang="en-US" altLang="en-US" dirty="0">
                <a:latin typeface="Arial" pitchFamily="34" charset="0"/>
                <a:ea typeface="Arial" pitchFamily="34" charset="0"/>
              </a:rPr>
              <a:t>Interactions of Cr(VI) with the most important eukaryotic (a) and prokaryotic (b) model microorganisms.
</a:t>
            </a:r>
          </a:p>
          <a:p>
            <a:pPr marL="0" lvl="0" indent="0"/>
            <a:r>
              <a:rPr lang="en-US" altLang="en-US" dirty="0">
                <a:latin typeface="Arial" pitchFamily="34" charset="0"/>
                <a:ea typeface="Arial" pitchFamily="34" charset="0"/>
              </a:rPr>
              <a:t>Unless provided in the caption above, the following copyright applies to the content of this slide: © 2014 Federation of European Microbiological Societies.</a:t>
            </a: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ＭＳ Ｐゴシック" pitchFamily="34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ＭＳ Ｐゴシック" pitchFamily="34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ＭＳ Ｐゴシック" pitchFamily="34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ＭＳ Ｐゴシック" pitchFamily="34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ＭＳ Ｐゴシック" pitchFamily="34" charset="-128"/>
              </a:defRPr>
            </a:lvl5pPr>
          </a:lstStyle>
          <a:p>
            <a:pPr marL="0" lvl="0" indent="0" algn="r" eaLnBrk="1" hangingPunct="1"/>
            <a:fld id="{67C461AF-E7E5-428A-9A8C-84482C5E5AA0}" type="slidenum">
              <a:rPr lang="en-US" altLang="en-US" sz="1200"/>
              <a:t>1</a:t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731"/>
            <a:ext cx="8229600" cy="444182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25450"/>
            <a:ext cx="6108853" cy="6127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0" y="5994400"/>
            <a:ext cx="7677150" cy="863600"/>
          </a:xfrm>
          <a:prstGeom prst="rect">
            <a:avLst/>
          </a:prstGeom>
        </p:spPr>
        <p:txBody>
          <a:bodyPr vert="horz" lIns="180000" tIns="0" rIns="180000" bIns="0" rtlCol="0" anchor="ctr"/>
          <a:lstStyle>
            <a:lvl1pPr eaLnBrk="0" hangingPunct="0">
              <a:defRPr sz="10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Date Placeholder 3"/>
          <p:cNvSpPr txBox="1"/>
          <p:nvPr/>
        </p:nvSpPr>
        <p:spPr bwMode="auto">
          <a:xfrm>
            <a:off x="1905000" y="64008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>
          <a:xfrm>
            <a:off x="457200" y="425450"/>
            <a:ext cx="6119812" cy="6127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0" tIns="0" rIns="0" bIns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600" b="1" i="0" u="none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4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itchFamily="34" charset="-128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4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itchFamily="34" charset="-128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4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itchFamily="34" charset="-128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4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itchFamily="34" charset="-128"/>
              </a:defRPr>
            </a:lvl9pPr>
          </a:lstStyle>
          <a:p>
            <a:pPr lvl="0"/>
            <a:r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1112"/>
            <a:ext cx="8229600" cy="44418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defRPr kumimoji="0" lang="en-US" altLang="en-US"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defRPr kumimoji="0" lang="en-US" altLang="en-US"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defRPr kumimoji="0" lang="en-US" altLang="en-US" sz="1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defRPr kumimoji="0" lang="en-US" altLang="en-US" sz="1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»"/>
              <a:defRPr kumimoji="0" lang="en-US" altLang="en-US" sz="11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lang="en-US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lang="en-US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lang="en-US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lang="en-US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0" y="5994400"/>
            <a:ext cx="7677150" cy="863600"/>
          </a:xfrm>
          <a:prstGeom prst="rect">
            <a:avLst/>
          </a:prstGeom>
        </p:spPr>
        <p:txBody>
          <a:bodyPr vert="horz" lIns="180000" tIns="0" rIns="180000" bIns="0" rtlCol="0" anchor="ctr"/>
          <a:lstStyle>
            <a:lvl1pPr algn="l" eaLnBrk="1" hangingPunct="1">
              <a:spcAft>
                <a:spcPts val="600"/>
              </a:spcAft>
              <a:defRPr sz="800">
                <a:solidFill>
                  <a:srgbClr val="2A2A2A"/>
                </a:solidFill>
                <a:latin typeface="Arial" pitchFamily="34" charset="0"/>
                <a:ea typeface="ＭＳ Ｐゴシック" pitchFamily="34" charset="-128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cxnSp>
        <p:nvCxnSpPr>
          <p:cNvPr id="1030" name="Straight Connector 8"/>
          <p:cNvCxnSpPr/>
          <p:nvPr/>
        </p:nvCxnSpPr>
        <p:spPr>
          <a:xfrm>
            <a:off x="0" y="5994400"/>
            <a:ext cx="9144000" cy="0"/>
          </a:xfrm>
          <a:prstGeom prst="line">
            <a:avLst/>
          </a:prstGeom>
          <a:noFill/>
          <a:ln w="6350">
            <a:solidFill>
              <a:srgbClr val="CFD5E4"/>
            </a:solidFill>
            <a:miter lim="800000"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49" r:id="rId1"/>
  </p:sldLayoutIdLst>
  <p:transition/>
  <p:txStyles>
    <p:titleStyle>
      <a:lvl1pPr marL="0" indent="0" algn="l" defTabSz="914400" rtl="0" eaLnBrk="0" fontAlgn="base" hangingPunct="0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600" b="1" i="0" u="none" kern="1200" baseline="0">
          <a:solidFill>
            <a:schemeClr val="tx1"/>
          </a:solidFill>
          <a:effectLst/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Arial" pitchFamily="34" charset="0"/>
          <a:ea typeface="ＭＳ Ｐゴシック" pitchFamily="34" charset="-128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Arial" pitchFamily="34" charset="0"/>
          <a:ea typeface="ＭＳ Ｐゴシック" pitchFamily="34" charset="-128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Arial" pitchFamily="34" charset="0"/>
          <a:ea typeface="ＭＳ Ｐゴシック" pitchFamily="34" charset="-128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Arial" pitchFamily="34" charset="0"/>
          <a:ea typeface="ＭＳ Ｐゴシック" pitchFamily="34" charset="-128"/>
          <a:cs typeface="Arial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ea typeface="ＭＳ Ｐゴシック" pitchFamily="34" charset="-128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ea typeface="ＭＳ Ｐゴシック" pitchFamily="34" charset="-128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ea typeface="ＭＳ Ｐゴシック" pitchFamily="34" charset="-128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ea typeface="ＭＳ Ｐゴシック" pitchFamily="34" charset="-128"/>
        </a:defRPr>
      </a:lvl9pPr>
    </p:titleStyle>
    <p:bodyStyle>
      <a:lvl1pPr marL="342900" indent="-34290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Tx/>
        <a:buSzTx/>
        <a:buFont typeface="Arial" pitchFamily="34" charset="0"/>
        <a:buChar char="•"/>
        <a:defRPr kumimoji="0" sz="16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Tx/>
        <a:buSzTx/>
        <a:buFont typeface="Arial" pitchFamily="34" charset="0"/>
        <a:buChar char="–"/>
        <a:defRPr kumimoji="0" sz="14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Tx/>
        <a:buSzTx/>
        <a:buFont typeface="Arial" pitchFamily="34" charset="0"/>
        <a:buChar char="•"/>
        <a:defRPr kumimoji="0" sz="12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Tx/>
        <a:buSzTx/>
        <a:buFont typeface="Arial" pitchFamily="34" charset="0"/>
        <a:buChar char="–"/>
        <a:defRPr kumimoji="0" sz="12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Tx/>
        <a:buSzTx/>
        <a:buFont typeface="Arial" pitchFamily="34" charset="0"/>
        <a:buChar char="»"/>
        <a:defRPr kumimoji="0" sz="11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4572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144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3716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8288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11/1574-6976.1205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/>
          <p:cNvSpPr>
            <a:spLocks noGrp="1"/>
          </p:cNvSpPr>
          <p:nvPr>
            <p:ph type="ftr" idx="10"/>
          </p:nvPr>
        </p:nvSpPr>
        <p:spPr>
          <a:xfrm>
            <a:off x="0" y="5994400"/>
            <a:ext cx="7677150" cy="8636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180000" tIns="0" rIns="180000" bIns="0" anchor="ctr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defRPr kumimoji="0" lang="en-US" altLang="en-US"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defRPr kumimoji="0" lang="en-US" altLang="en-US"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defRPr kumimoji="0" lang="en-US" altLang="en-US" sz="1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defRPr kumimoji="0" lang="en-US" altLang="en-US" sz="1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»"/>
              <a:defRPr kumimoji="0" lang="en-US" altLang="en-US" sz="11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lang="en-US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lang="en-US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lang="en-US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lang="en-US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000" i="1">
                <a:solidFill>
                  <a:srgbClr val="333333"/>
                </a:solidFill>
              </a:rPr>
              <a:t>FEMS Microbiol Rev</a:t>
            </a:r>
            <a:r>
              <a:rPr lang="en-US" altLang="en-US" sz="1000">
                <a:solidFill>
                  <a:srgbClr val="333333"/>
                </a:solidFill>
              </a:rPr>
              <a:t>, Volume 38, Issue 4, July 2014, Pages 633–659, </a:t>
            </a:r>
            <a:r>
              <a:rPr lang="en-US" altLang="en-US" sz="1000">
                <a:solidFill>
                  <a:srgbClr val="333333"/>
                </a:solidFill>
                <a:hlinkClick r:id="rId3"/>
              </a:rPr>
              <a:t>https://doi.org/10.1111/1574-6976.12051</a:t>
            </a:r>
            <a:endParaRPr lang="en-US" altLang="en-US" sz="1000">
              <a:solidFill>
                <a:srgbClr val="333333"/>
              </a:solidFill>
            </a:endParaRPr>
          </a:p>
          <a:p>
            <a:pPr marL="0" lvl="0" indent="0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800">
                <a:solidFill>
                  <a:srgbClr val="2A2A2A"/>
                </a:solidFill>
              </a:rPr>
              <a:t>The content of this slide may be subject to copyright: please see the slide notes for details.</a:t>
            </a:r>
            <a:endParaRPr lang="en-US" altLang="en-US" sz="800">
              <a:solidFill>
                <a:srgbClr val="333333"/>
              </a:solidFill>
            </a:endParaRPr>
          </a:p>
        </p:txBody>
      </p:sp>
      <p:sp>
        <p:nvSpPr>
          <p:cNvPr id="5123" name="Title 1"/>
          <p:cNvSpPr>
            <a:spLocks noGrp="1"/>
          </p:cNvSpPr>
          <p:nvPr>
            <p:ph type="title"/>
          </p:nvPr>
        </p:nvSpPr>
        <p:spPr>
          <a:xfrm>
            <a:off x="457200" y="425450"/>
            <a:ext cx="6108700" cy="612775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0" tIns="0" rIns="0" bIns="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600" b="1" i="0" u="none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4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itchFamily="34" charset="-128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4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itchFamily="34" charset="-128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4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itchFamily="34" charset="-128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4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itchFamily="34" charset="-128"/>
              </a:defRPr>
            </a:lvl9pPr>
          </a:lstStyle>
          <a:p>
            <a:pPr lvl="0"/>
            <a:r>
              <a:rPr lang="en-US" altLang="en-US"/>
              <a:t>Figure 9 </a:t>
            </a:r>
            <a:r>
              <a:rPr lang="en-US" altLang="en-US" b="0"/>
              <a:t>Interactions of Cr(VI) with the most important eukaryotic (a) and prokaryotic (b) model microorganisms.
</a:t>
            </a:r>
          </a:p>
        </p:txBody>
      </p:sp>
      <p:pic>
        <p:nvPicPr>
          <p:cNvPr id="5124" name="Picture 4" descr="Oxford University Pres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162" y="6294438"/>
            <a:ext cx="1058862" cy="244475"/>
          </a:xfrm>
          <a:prstGeom prst="rect">
            <a:avLst/>
          </a:prstGeom>
          <a:noFill/>
          <a:ln>
            <a:noFill/>
            <a:miter lim="800000"/>
          </a:ln>
        </p:spPr>
      </p:pic>
      <p:pic>
        <p:nvPicPr>
          <p:cNvPr id="5125" name="New picture"/>
          <p:cNvPicPr/>
          <p:nvPr/>
        </p:nvPicPr>
        <p:blipFill>
          <a:blip r:embed="rId5"/>
          <a:stretch>
            <a:fillRect/>
          </a:stretch>
        </p:blipFill>
        <p:spPr>
          <a:xfrm>
            <a:off x="2921000" y="1371600"/>
            <a:ext cx="3296924" cy="44577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9DFC710-E24A-D9E1-4BC3-77C5F0CE1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524BC6A-0A11-DAEC-47A3-47868808E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 descr="Diagrama">
            <a:extLst>
              <a:ext uri="{FF2B5EF4-FFF2-40B4-BE49-F238E27FC236}">
                <a16:creationId xmlns:a16="http://schemas.microsoft.com/office/drawing/2014/main" id="{7AEC566F-C6B9-171B-950E-730F6F0BE6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875" y="1618615"/>
            <a:ext cx="4286250" cy="362077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0354A6A-9246-732C-1707-7E3F524B48B8}"/>
              </a:ext>
            </a:extLst>
          </p:cNvPr>
          <p:cNvSpPr txBox="1"/>
          <p:nvPr/>
        </p:nvSpPr>
        <p:spPr>
          <a:xfrm rot="4796324">
            <a:off x="4436887" y="2176464"/>
            <a:ext cx="42832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900" dirty="0"/>
              <a:t>Yor1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336DCEC-50D5-3F20-B5CD-BCD61B89783E}"/>
              </a:ext>
            </a:extLst>
          </p:cNvPr>
          <p:cNvSpPr txBox="1"/>
          <p:nvPr/>
        </p:nvSpPr>
        <p:spPr>
          <a:xfrm rot="2715956">
            <a:off x="3705571" y="166196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900" dirty="0" err="1"/>
              <a:t>Binding</a:t>
            </a:r>
            <a:endParaRPr lang="es-ES" sz="9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60B3032-C90F-34BB-7118-223694C8ACFE}"/>
              </a:ext>
            </a:extLst>
          </p:cNvPr>
          <p:cNvSpPr txBox="1"/>
          <p:nvPr/>
        </p:nvSpPr>
        <p:spPr>
          <a:xfrm>
            <a:off x="3635896" y="2187939"/>
            <a:ext cx="5886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900" dirty="0" err="1"/>
              <a:t>Melanin</a:t>
            </a:r>
            <a:endParaRPr lang="es-ES" sz="9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84287D9-1BD5-E6D2-0BB5-B26467997454}"/>
              </a:ext>
            </a:extLst>
          </p:cNvPr>
          <p:cNvSpPr txBox="1"/>
          <p:nvPr/>
        </p:nvSpPr>
        <p:spPr>
          <a:xfrm>
            <a:off x="5436096" y="4077072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/>
              <a:t>VCX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22106C3-C2D4-7942-43A0-D102534F237E}"/>
              </a:ext>
            </a:extLst>
          </p:cNvPr>
          <p:cNvSpPr txBox="1"/>
          <p:nvPr/>
        </p:nvSpPr>
        <p:spPr>
          <a:xfrm>
            <a:off x="5265618" y="3609571"/>
            <a:ext cx="13131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900" dirty="0" err="1"/>
              <a:t>Complex</a:t>
            </a:r>
            <a:r>
              <a:rPr lang="es-ES" sz="900" dirty="0"/>
              <a:t> ion </a:t>
            </a:r>
            <a:r>
              <a:rPr lang="es-ES" sz="900" dirty="0" err="1"/>
              <a:t>transport</a:t>
            </a:r>
            <a:endParaRPr lang="es-ES" sz="9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AE87A57-E5F5-FE74-C5E7-4FBCF5C6FF7A}"/>
              </a:ext>
            </a:extLst>
          </p:cNvPr>
          <p:cNvSpPr txBox="1"/>
          <p:nvPr/>
        </p:nvSpPr>
        <p:spPr>
          <a:xfrm>
            <a:off x="5202179" y="3906994"/>
            <a:ext cx="864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/>
              <a:t>Ca </a:t>
            </a:r>
            <a:r>
              <a:rPr lang="es-ES" sz="800" baseline="30000" dirty="0"/>
              <a:t>2+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9BBAEC8-21C7-F5E9-3B4B-DE1AEE262E02}"/>
              </a:ext>
            </a:extLst>
          </p:cNvPr>
          <p:cNvSpPr txBox="1"/>
          <p:nvPr/>
        </p:nvSpPr>
        <p:spPr>
          <a:xfrm>
            <a:off x="5780039" y="3802839"/>
            <a:ext cx="4475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/>
              <a:t>Pmc1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F2472E6-E55E-EF9E-F97A-CD4381A8DF20}"/>
              </a:ext>
            </a:extLst>
          </p:cNvPr>
          <p:cNvSpPr txBox="1"/>
          <p:nvPr/>
        </p:nvSpPr>
        <p:spPr>
          <a:xfrm>
            <a:off x="3871112" y="4335090"/>
            <a:ext cx="884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dirty="0" err="1"/>
              <a:t>Endoplasmatic</a:t>
            </a:r>
            <a:r>
              <a:rPr lang="es-ES" sz="700" dirty="0"/>
              <a:t> </a:t>
            </a:r>
            <a:r>
              <a:rPr lang="es-ES" sz="700" dirty="0" err="1"/>
              <a:t>reticulum</a:t>
            </a:r>
            <a:endParaRPr lang="es-ES" sz="700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F4B7988F-6029-4F61-0560-DD346FDF18F9}"/>
              </a:ext>
            </a:extLst>
          </p:cNvPr>
          <p:cNvSpPr/>
          <p:nvPr/>
        </p:nvSpPr>
        <p:spPr bwMode="auto">
          <a:xfrm>
            <a:off x="3347864" y="2911574"/>
            <a:ext cx="432048" cy="23083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D708BAE-3A26-5660-170E-90D5769D7703}"/>
              </a:ext>
            </a:extLst>
          </p:cNvPr>
          <p:cNvSpPr txBox="1"/>
          <p:nvPr/>
        </p:nvSpPr>
        <p:spPr>
          <a:xfrm>
            <a:off x="3359304" y="2911286"/>
            <a:ext cx="4347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CRM1</a:t>
            </a:r>
            <a:endParaRPr lang="es-ES" sz="800" dirty="0"/>
          </a:p>
        </p:txBody>
      </p:sp>
      <p:sp>
        <p:nvSpPr>
          <p:cNvPr id="16" name="Cilindro 15">
            <a:extLst>
              <a:ext uri="{FF2B5EF4-FFF2-40B4-BE49-F238E27FC236}">
                <a16:creationId xmlns:a16="http://schemas.microsoft.com/office/drawing/2014/main" id="{7EC5A259-37ED-4A8C-6349-D487FD4C934C}"/>
              </a:ext>
            </a:extLst>
          </p:cNvPr>
          <p:cNvSpPr/>
          <p:nvPr/>
        </p:nvSpPr>
        <p:spPr bwMode="auto">
          <a:xfrm>
            <a:off x="4067944" y="3805616"/>
            <a:ext cx="108950" cy="425334"/>
          </a:xfrm>
          <a:prstGeom prst="can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0FCF894-F788-04E0-2252-059577F5FDC5}"/>
              </a:ext>
            </a:extLst>
          </p:cNvPr>
          <p:cNvSpPr txBox="1"/>
          <p:nvPr/>
        </p:nvSpPr>
        <p:spPr>
          <a:xfrm rot="5400000">
            <a:off x="3834519" y="3937435"/>
            <a:ext cx="5757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900" dirty="0"/>
              <a:t>PSMB7</a:t>
            </a:r>
          </a:p>
        </p:txBody>
      </p:sp>
    </p:spTree>
    <p:extLst>
      <p:ext uri="{BB962C8B-B14F-4D97-AF65-F5344CB8AC3E}">
        <p14:creationId xmlns:p14="http://schemas.microsoft.com/office/powerpoint/2010/main" val="315250814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7D93569-192B-8611-23C2-EE0EC7C89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86B3240-978A-764A-2405-0EF3A1BE7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5D46FB-463E-86E5-FF4C-17054E5A8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324" y="299677"/>
            <a:ext cx="3901344" cy="358416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9DAD1C1-29E6-BBEB-CD57-DEAB094A5261}"/>
              </a:ext>
            </a:extLst>
          </p:cNvPr>
          <p:cNvSpPr txBox="1"/>
          <p:nvPr/>
        </p:nvSpPr>
        <p:spPr>
          <a:xfrm>
            <a:off x="5100243" y="1788966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/>
              <a:t>ABC</a:t>
            </a:r>
          </a:p>
        </p:txBody>
      </p:sp>
      <p:sp>
        <p:nvSpPr>
          <p:cNvPr id="6" name="Cilindro 5">
            <a:extLst>
              <a:ext uri="{FF2B5EF4-FFF2-40B4-BE49-F238E27FC236}">
                <a16:creationId xmlns:a16="http://schemas.microsoft.com/office/drawing/2014/main" id="{B32C88D8-C374-275A-8065-9D638512ACCC}"/>
              </a:ext>
            </a:extLst>
          </p:cNvPr>
          <p:cNvSpPr/>
          <p:nvPr/>
        </p:nvSpPr>
        <p:spPr bwMode="auto">
          <a:xfrm>
            <a:off x="2987824" y="764704"/>
            <a:ext cx="216024" cy="432048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10F3E4DC-3D9E-902C-6183-F306DFDE05FF}"/>
              </a:ext>
            </a:extLst>
          </p:cNvPr>
          <p:cNvCxnSpPr>
            <a:stCxn id="6" idx="0"/>
          </p:cNvCxnSpPr>
          <p:nvPr/>
        </p:nvCxnSpPr>
        <p:spPr bwMode="auto">
          <a:xfrm>
            <a:off x="3095836" y="818710"/>
            <a:ext cx="36004" cy="2340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01B07C0F-F427-991D-E8BE-7F16DB981D83}"/>
              </a:ext>
            </a:extLst>
          </p:cNvPr>
          <p:cNvSpPr txBox="1"/>
          <p:nvPr/>
        </p:nvSpPr>
        <p:spPr>
          <a:xfrm>
            <a:off x="3962047" y="1392979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/>
              <a:t>ATP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967E97A-8C35-52E7-69A5-23A60FA16967}"/>
              </a:ext>
            </a:extLst>
          </p:cNvPr>
          <p:cNvSpPr txBox="1"/>
          <p:nvPr/>
        </p:nvSpPr>
        <p:spPr>
          <a:xfrm rot="2636216">
            <a:off x="1945382" y="1233422"/>
            <a:ext cx="4074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 err="1"/>
              <a:t>Chr</a:t>
            </a:r>
            <a:r>
              <a:rPr lang="es-ES" sz="800" dirty="0"/>
              <a:t>?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645397F-A2A1-27E3-DC2E-6127AB71A7C1}"/>
              </a:ext>
            </a:extLst>
          </p:cNvPr>
          <p:cNvSpPr txBox="1"/>
          <p:nvPr/>
        </p:nvSpPr>
        <p:spPr>
          <a:xfrm>
            <a:off x="1872768" y="603266"/>
            <a:ext cx="4716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/>
              <a:t>CrO</a:t>
            </a:r>
            <a:r>
              <a:rPr lang="es-ES" sz="800" baseline="-25000" dirty="0"/>
              <a:t>4</a:t>
            </a:r>
            <a:r>
              <a:rPr lang="es-ES" sz="800" baseline="30000" dirty="0"/>
              <a:t>2-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B392FC3-E9B8-1C26-6932-920BC1309005}"/>
              </a:ext>
            </a:extLst>
          </p:cNvPr>
          <p:cNvSpPr txBox="1"/>
          <p:nvPr/>
        </p:nvSpPr>
        <p:spPr>
          <a:xfrm>
            <a:off x="1947244" y="719773"/>
            <a:ext cx="4331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/>
              <a:t>SO</a:t>
            </a:r>
            <a:r>
              <a:rPr lang="es-ES" sz="800" baseline="-25000" dirty="0"/>
              <a:t>4</a:t>
            </a:r>
            <a:r>
              <a:rPr lang="es-ES" sz="800" baseline="30000" dirty="0"/>
              <a:t>2-</a:t>
            </a:r>
          </a:p>
        </p:txBody>
      </p:sp>
      <p:sp>
        <p:nvSpPr>
          <p:cNvPr id="13" name="Cilindro 12">
            <a:extLst>
              <a:ext uri="{FF2B5EF4-FFF2-40B4-BE49-F238E27FC236}">
                <a16:creationId xmlns:a16="http://schemas.microsoft.com/office/drawing/2014/main" id="{84CB3871-9648-D2CE-96F3-11A5016E0111}"/>
              </a:ext>
            </a:extLst>
          </p:cNvPr>
          <p:cNvSpPr/>
          <p:nvPr/>
        </p:nvSpPr>
        <p:spPr bwMode="auto">
          <a:xfrm rot="18004919">
            <a:off x="5377580" y="2996952"/>
            <a:ext cx="215444" cy="432048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AE0642B-9DFD-AD1C-759B-DB29AB3C1948}"/>
              </a:ext>
            </a:extLst>
          </p:cNvPr>
          <p:cNvSpPr txBox="1"/>
          <p:nvPr/>
        </p:nvSpPr>
        <p:spPr>
          <a:xfrm>
            <a:off x="6156221" y="3131694"/>
            <a:ext cx="7711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/>
              <a:t>Extracelular </a:t>
            </a:r>
            <a:r>
              <a:rPr lang="es-ES" sz="800" dirty="0" err="1"/>
              <a:t>reduction</a:t>
            </a:r>
            <a:endParaRPr lang="es-ES" sz="8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FEECB5D-69A6-E69C-2A24-82951AEF61E1}"/>
              </a:ext>
            </a:extLst>
          </p:cNvPr>
          <p:cNvSpPr txBox="1"/>
          <p:nvPr/>
        </p:nvSpPr>
        <p:spPr>
          <a:xfrm>
            <a:off x="5718294" y="2976104"/>
            <a:ext cx="4716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/>
              <a:t>CrO</a:t>
            </a:r>
            <a:r>
              <a:rPr lang="es-ES" sz="800" baseline="-25000" dirty="0"/>
              <a:t>4</a:t>
            </a:r>
            <a:r>
              <a:rPr lang="es-ES" sz="800" baseline="30000" dirty="0"/>
              <a:t>2-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A58DBB8-77E4-D5E0-D6A2-2EF49ED70ACB}"/>
              </a:ext>
            </a:extLst>
          </p:cNvPr>
          <p:cNvSpPr txBox="1"/>
          <p:nvPr/>
        </p:nvSpPr>
        <p:spPr>
          <a:xfrm>
            <a:off x="5790177" y="3350076"/>
            <a:ext cx="2984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/>
              <a:t>H</a:t>
            </a:r>
            <a:r>
              <a:rPr lang="es-ES" sz="800" baseline="30000" dirty="0"/>
              <a:t>+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E38562C1-67DC-813C-0FE4-0100E267B773}"/>
              </a:ext>
            </a:extLst>
          </p:cNvPr>
          <p:cNvCxnSpPr>
            <a:stCxn id="13" idx="0"/>
            <a:endCxn id="13" idx="1"/>
          </p:cNvCxnSpPr>
          <p:nvPr/>
        </p:nvCxnSpPr>
        <p:spPr bwMode="auto">
          <a:xfrm flipH="1" flipV="1">
            <a:off x="5298374" y="3104696"/>
            <a:ext cx="46607" cy="269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3AD9C665-58EC-848B-0F21-AA8EC8D80B3D}"/>
              </a:ext>
            </a:extLst>
          </p:cNvPr>
          <p:cNvCxnSpPr>
            <a:stCxn id="13" idx="3"/>
          </p:cNvCxnSpPr>
          <p:nvPr/>
        </p:nvCxnSpPr>
        <p:spPr bwMode="auto">
          <a:xfrm flipH="1" flipV="1">
            <a:off x="5148064" y="2976104"/>
            <a:ext cx="524166" cy="34515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F018A00-06A8-AF33-AC2B-9D29AD33C9F4}"/>
              </a:ext>
            </a:extLst>
          </p:cNvPr>
          <p:cNvCxnSpPr/>
          <p:nvPr/>
        </p:nvCxnSpPr>
        <p:spPr bwMode="auto">
          <a:xfrm flipV="1">
            <a:off x="5718294" y="3191548"/>
            <a:ext cx="221858" cy="1297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73DC74BD-014E-9B89-2901-0103BA9A19A9}"/>
              </a:ext>
            </a:extLst>
          </p:cNvPr>
          <p:cNvCxnSpPr>
            <a:endCxn id="16" idx="1"/>
          </p:cNvCxnSpPr>
          <p:nvPr/>
        </p:nvCxnSpPr>
        <p:spPr bwMode="auto">
          <a:xfrm>
            <a:off x="5728985" y="3360640"/>
            <a:ext cx="61192" cy="9715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880432D-A6E7-450F-208D-DAD6A42E4979}"/>
              </a:ext>
            </a:extLst>
          </p:cNvPr>
          <p:cNvSpPr txBox="1"/>
          <p:nvPr/>
        </p:nvSpPr>
        <p:spPr>
          <a:xfrm rot="2636216">
            <a:off x="5629447" y="2751382"/>
            <a:ext cx="4074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 err="1"/>
              <a:t>Chr</a:t>
            </a:r>
            <a:r>
              <a:rPr lang="es-ES" sz="800" dirty="0"/>
              <a:t>?</a:t>
            </a:r>
          </a:p>
        </p:txBody>
      </p: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7646AC32-4429-9475-04E7-5EA2D3E3994A}"/>
              </a:ext>
            </a:extLst>
          </p:cNvPr>
          <p:cNvCxnSpPr>
            <a:stCxn id="31" idx="0"/>
          </p:cNvCxnSpPr>
          <p:nvPr/>
        </p:nvCxnSpPr>
        <p:spPr bwMode="auto">
          <a:xfrm rot="16200000" flipV="1">
            <a:off x="5641468" y="2515066"/>
            <a:ext cx="384581" cy="14835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24A51B3-2EF8-B78A-F040-C3D2994008DC}"/>
              </a:ext>
            </a:extLst>
          </p:cNvPr>
          <p:cNvSpPr txBox="1"/>
          <p:nvPr/>
        </p:nvSpPr>
        <p:spPr>
          <a:xfrm>
            <a:off x="5726224" y="2303739"/>
            <a:ext cx="3706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/>
              <a:t>Cr</a:t>
            </a:r>
            <a:r>
              <a:rPr lang="es-ES" sz="800" baseline="30000" dirty="0"/>
              <a:t>3+</a:t>
            </a:r>
          </a:p>
        </p:txBody>
      </p:sp>
      <p:cxnSp>
        <p:nvCxnSpPr>
          <p:cNvPr id="37" name="Conector: angular 36">
            <a:extLst>
              <a:ext uri="{FF2B5EF4-FFF2-40B4-BE49-F238E27FC236}">
                <a16:creationId xmlns:a16="http://schemas.microsoft.com/office/drawing/2014/main" id="{B557466F-C38A-0632-16A8-EC0C8EC1490F}"/>
              </a:ext>
            </a:extLst>
          </p:cNvPr>
          <p:cNvCxnSpPr>
            <a:endCxn id="4" idx="3"/>
          </p:cNvCxnSpPr>
          <p:nvPr/>
        </p:nvCxnSpPr>
        <p:spPr bwMode="auto">
          <a:xfrm rot="10800000">
            <a:off x="5609669" y="2091760"/>
            <a:ext cx="314911" cy="203925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Cilindro 37">
            <a:extLst>
              <a:ext uri="{FF2B5EF4-FFF2-40B4-BE49-F238E27FC236}">
                <a16:creationId xmlns:a16="http://schemas.microsoft.com/office/drawing/2014/main" id="{A0280C2D-1621-D7E3-F5AC-8D63D2A9AB65}"/>
              </a:ext>
            </a:extLst>
          </p:cNvPr>
          <p:cNvSpPr/>
          <p:nvPr/>
        </p:nvSpPr>
        <p:spPr bwMode="auto">
          <a:xfrm rot="5400000">
            <a:off x="5205801" y="1764834"/>
            <a:ext cx="150310" cy="624135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49937A7-E077-77DE-79D9-397AF33A24D9}"/>
              </a:ext>
            </a:extLst>
          </p:cNvPr>
          <p:cNvSpPr txBox="1"/>
          <p:nvPr/>
        </p:nvSpPr>
        <p:spPr>
          <a:xfrm>
            <a:off x="4726549" y="1976825"/>
            <a:ext cx="8851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/>
              <a:t>Fe</a:t>
            </a:r>
            <a:r>
              <a:rPr lang="es-ES" sz="800" baseline="30000" dirty="0"/>
              <a:t>3+</a:t>
            </a:r>
            <a:r>
              <a:rPr lang="es-ES" sz="800" dirty="0"/>
              <a:t> - Ca</a:t>
            </a:r>
            <a:r>
              <a:rPr lang="es-ES" sz="800" baseline="30000" dirty="0"/>
              <a:t>2+</a:t>
            </a:r>
            <a:r>
              <a:rPr lang="es-ES" sz="800" dirty="0"/>
              <a:t> - K</a:t>
            </a:r>
            <a:r>
              <a:rPr lang="es-ES" sz="800" baseline="30000" dirty="0"/>
              <a:t>+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919102A-7596-7BA0-5625-4764D5E23F3F}"/>
              </a:ext>
            </a:extLst>
          </p:cNvPr>
          <p:cNvSpPr txBox="1"/>
          <p:nvPr/>
        </p:nvSpPr>
        <p:spPr>
          <a:xfrm>
            <a:off x="4162097" y="1804370"/>
            <a:ext cx="816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/>
              <a:t>Iron</a:t>
            </a:r>
            <a:r>
              <a:rPr lang="es-ES" sz="800" dirty="0"/>
              <a:t> homeostasis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584DC042-1767-9DC7-E9B8-CD349DBAABB7}"/>
              </a:ext>
            </a:extLst>
          </p:cNvPr>
          <p:cNvSpPr txBox="1"/>
          <p:nvPr/>
        </p:nvSpPr>
        <p:spPr>
          <a:xfrm>
            <a:off x="3098613" y="1626613"/>
            <a:ext cx="5437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/>
              <a:t>NADPH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A7602422-ECA7-A106-1333-E1C8825F4255}"/>
              </a:ext>
            </a:extLst>
          </p:cNvPr>
          <p:cNvSpPr txBox="1"/>
          <p:nvPr/>
        </p:nvSpPr>
        <p:spPr>
          <a:xfrm>
            <a:off x="3532741" y="1603494"/>
            <a:ext cx="3642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rgbClr val="FF0000"/>
                </a:solidFill>
              </a:rPr>
              <a:t>e</a:t>
            </a:r>
            <a:r>
              <a:rPr lang="es-ES" sz="800" baseline="30000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530144B-40B8-1DEF-BCEF-385E5BBC7EF4}"/>
              </a:ext>
            </a:extLst>
          </p:cNvPr>
          <p:cNvSpPr txBox="1"/>
          <p:nvPr/>
        </p:nvSpPr>
        <p:spPr>
          <a:xfrm>
            <a:off x="3350639" y="1456120"/>
            <a:ext cx="3642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rgbClr val="FF0000"/>
                </a:solidFill>
              </a:rPr>
              <a:t>e</a:t>
            </a:r>
            <a:r>
              <a:rPr lang="es-ES" sz="800" baseline="30000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BD3238D-683F-0060-316F-5F41BA79BAB6}"/>
              </a:ext>
            </a:extLst>
          </p:cNvPr>
          <p:cNvSpPr txBox="1"/>
          <p:nvPr/>
        </p:nvSpPr>
        <p:spPr>
          <a:xfrm>
            <a:off x="3208522" y="1530450"/>
            <a:ext cx="3642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rgbClr val="FF0000"/>
                </a:solidFill>
              </a:rPr>
              <a:t>e</a:t>
            </a:r>
            <a:r>
              <a:rPr lang="es-ES" sz="800" baseline="30000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E742ECB3-87AC-B866-F82E-983D1639F67C}"/>
              </a:ext>
            </a:extLst>
          </p:cNvPr>
          <p:cNvSpPr txBox="1"/>
          <p:nvPr/>
        </p:nvSpPr>
        <p:spPr>
          <a:xfrm>
            <a:off x="3428881" y="1722776"/>
            <a:ext cx="3642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rgbClr val="FF0000"/>
                </a:solidFill>
              </a:rPr>
              <a:t>e</a:t>
            </a:r>
            <a:r>
              <a:rPr lang="es-ES" sz="800" baseline="30000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6F8C0058-F877-91FF-ECFD-D623D25DF2D5}"/>
              </a:ext>
            </a:extLst>
          </p:cNvPr>
          <p:cNvSpPr txBox="1"/>
          <p:nvPr/>
        </p:nvSpPr>
        <p:spPr>
          <a:xfrm>
            <a:off x="3896943" y="2164988"/>
            <a:ext cx="725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/>
              <a:t>Oxidative </a:t>
            </a:r>
            <a:r>
              <a:rPr lang="es-ES" sz="800" dirty="0" err="1"/>
              <a:t>strees</a:t>
            </a:r>
            <a:endParaRPr lang="es-ES" sz="800" dirty="0"/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C4D73A7C-1B11-33CB-BAB6-15C966622CF1}"/>
              </a:ext>
            </a:extLst>
          </p:cNvPr>
          <p:cNvCxnSpPr/>
          <p:nvPr/>
        </p:nvCxnSpPr>
        <p:spPr bwMode="auto">
          <a:xfrm>
            <a:off x="2224126" y="1603494"/>
            <a:ext cx="1658390" cy="8079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5E2AB971-CF52-A658-472D-240E53A410E8}"/>
              </a:ext>
            </a:extLst>
          </p:cNvPr>
          <p:cNvCxnSpPr>
            <a:stCxn id="41" idx="1"/>
          </p:cNvCxnSpPr>
          <p:nvPr/>
        </p:nvCxnSpPr>
        <p:spPr bwMode="auto">
          <a:xfrm flipH="1">
            <a:off x="4062179" y="1973647"/>
            <a:ext cx="99918" cy="2295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BDC5299D-3A1F-0C0D-1935-202DE3C05103}"/>
              </a:ext>
            </a:extLst>
          </p:cNvPr>
          <p:cNvSpPr txBox="1"/>
          <p:nvPr/>
        </p:nvSpPr>
        <p:spPr>
          <a:xfrm>
            <a:off x="3643217" y="2679992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 err="1"/>
              <a:t>Glutathion</a:t>
            </a:r>
            <a:endParaRPr lang="es-ES" sz="800" dirty="0"/>
          </a:p>
          <a:p>
            <a:r>
              <a:rPr lang="es-ES" sz="800" dirty="0"/>
              <a:t>(GTH)</a:t>
            </a:r>
          </a:p>
        </p:txBody>
      </p: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BDD58CA6-EB47-91FC-706B-79A9E0B2BF57}"/>
              </a:ext>
            </a:extLst>
          </p:cNvPr>
          <p:cNvCxnSpPr>
            <a:stCxn id="47" idx="2"/>
          </p:cNvCxnSpPr>
          <p:nvPr/>
        </p:nvCxnSpPr>
        <p:spPr bwMode="auto">
          <a:xfrm>
            <a:off x="4259832" y="2503542"/>
            <a:ext cx="0" cy="2779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" name="Hexágono 54">
            <a:extLst>
              <a:ext uri="{FF2B5EF4-FFF2-40B4-BE49-F238E27FC236}">
                <a16:creationId xmlns:a16="http://schemas.microsoft.com/office/drawing/2014/main" id="{F5810E8E-73A8-40B5-7358-9C68A2A05459}"/>
              </a:ext>
            </a:extLst>
          </p:cNvPr>
          <p:cNvSpPr/>
          <p:nvPr/>
        </p:nvSpPr>
        <p:spPr bwMode="auto">
          <a:xfrm>
            <a:off x="1947244" y="2569989"/>
            <a:ext cx="655949" cy="338554"/>
          </a:xfrm>
          <a:prstGeom prst="hexag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CAT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6B03F90A-C6CF-5D3A-8CB3-6976352D7B0B}"/>
              </a:ext>
            </a:extLst>
          </p:cNvPr>
          <p:cNvSpPr txBox="1"/>
          <p:nvPr/>
        </p:nvSpPr>
        <p:spPr>
          <a:xfrm>
            <a:off x="4468012" y="2532511"/>
            <a:ext cx="3706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rgbClr val="866600"/>
                </a:solidFill>
              </a:rPr>
              <a:t>Cr</a:t>
            </a:r>
            <a:r>
              <a:rPr lang="es-ES" sz="800" baseline="30000" dirty="0">
                <a:solidFill>
                  <a:srgbClr val="866600"/>
                </a:solidFill>
              </a:rPr>
              <a:t>3+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E6020DE5-DC43-E766-9F74-13CE76AE2D9B}"/>
              </a:ext>
            </a:extLst>
          </p:cNvPr>
          <p:cNvSpPr txBox="1"/>
          <p:nvPr/>
        </p:nvSpPr>
        <p:spPr>
          <a:xfrm>
            <a:off x="4555651" y="2382233"/>
            <a:ext cx="4074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>
                <a:solidFill>
                  <a:schemeClr val="accent2"/>
                </a:solidFill>
              </a:rPr>
              <a:t>ROS</a:t>
            </a:r>
          </a:p>
        </p:txBody>
      </p: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A0C10364-8034-4A04-9EAE-1C7EB0B20A3F}"/>
              </a:ext>
            </a:extLst>
          </p:cNvPr>
          <p:cNvCxnSpPr/>
          <p:nvPr/>
        </p:nvCxnSpPr>
        <p:spPr bwMode="auto">
          <a:xfrm>
            <a:off x="5145303" y="2532511"/>
            <a:ext cx="356922" cy="3096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1E45931D-C2FD-1528-6296-E1AF90D01F1E}"/>
              </a:ext>
            </a:extLst>
          </p:cNvPr>
          <p:cNvCxnSpPr/>
          <p:nvPr/>
        </p:nvCxnSpPr>
        <p:spPr bwMode="auto">
          <a:xfrm flipH="1">
            <a:off x="5169138" y="2519183"/>
            <a:ext cx="228309" cy="3094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25AA6381-A07B-151E-4E01-C158F1E9173C}"/>
              </a:ext>
            </a:extLst>
          </p:cNvPr>
          <p:cNvSpPr txBox="1"/>
          <p:nvPr/>
        </p:nvSpPr>
        <p:spPr>
          <a:xfrm>
            <a:off x="3993002" y="2940061"/>
            <a:ext cx="134043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 err="1"/>
              <a:t>Oxidation</a:t>
            </a:r>
            <a:r>
              <a:rPr lang="es-ES" sz="800" dirty="0"/>
              <a:t> DNA</a:t>
            </a:r>
          </a:p>
          <a:p>
            <a:r>
              <a:rPr lang="es-ES" sz="800" dirty="0"/>
              <a:t>Cr/DNA/</a:t>
            </a:r>
            <a:r>
              <a:rPr lang="es-ES" sz="800" dirty="0" err="1"/>
              <a:t>protein</a:t>
            </a:r>
            <a:r>
              <a:rPr lang="es-ES" sz="800" dirty="0"/>
              <a:t> </a:t>
            </a:r>
            <a:r>
              <a:rPr lang="es-ES" sz="800" dirty="0" err="1"/>
              <a:t>formation</a:t>
            </a:r>
            <a:endParaRPr lang="es-ES" sz="800" dirty="0"/>
          </a:p>
          <a:p>
            <a:endParaRPr lang="es-ES" dirty="0"/>
          </a:p>
        </p:txBody>
      </p:sp>
      <p:grpSp>
        <p:nvGrpSpPr>
          <p:cNvPr id="65" name="Grupo 64">
            <a:extLst>
              <a:ext uri="{FF2B5EF4-FFF2-40B4-BE49-F238E27FC236}">
                <a16:creationId xmlns:a16="http://schemas.microsoft.com/office/drawing/2014/main" id="{93099789-D0EC-D2F0-16DD-248BF6C41511}"/>
              </a:ext>
            </a:extLst>
          </p:cNvPr>
          <p:cNvGrpSpPr/>
          <p:nvPr/>
        </p:nvGrpSpPr>
        <p:grpSpPr>
          <a:xfrm>
            <a:off x="3487815" y="1079685"/>
            <a:ext cx="364203" cy="377078"/>
            <a:chOff x="3575484" y="1050203"/>
            <a:chExt cx="364203" cy="377078"/>
          </a:xfrm>
        </p:grpSpPr>
        <p:sp>
          <p:nvSpPr>
            <p:cNvPr id="64" name="Pentágono 63">
              <a:extLst>
                <a:ext uri="{FF2B5EF4-FFF2-40B4-BE49-F238E27FC236}">
                  <a16:creationId xmlns:a16="http://schemas.microsoft.com/office/drawing/2014/main" id="{1AFE628C-CC8C-D2ED-CE6D-BF1D949FAAC5}"/>
                </a:ext>
              </a:extLst>
            </p:cNvPr>
            <p:cNvSpPr/>
            <p:nvPr/>
          </p:nvSpPr>
          <p:spPr bwMode="auto">
            <a:xfrm>
              <a:off x="3575484" y="1050203"/>
              <a:ext cx="364202" cy="377078"/>
            </a:xfrm>
            <a:prstGeom prst="pentagon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D47A43E9-C6B8-B5BC-23D7-BAD59EDDA152}"/>
                </a:ext>
              </a:extLst>
            </p:cNvPr>
            <p:cNvSpPr txBox="1"/>
            <p:nvPr/>
          </p:nvSpPr>
          <p:spPr>
            <a:xfrm>
              <a:off x="3592997" y="1149896"/>
              <a:ext cx="34669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effectLst/>
                  <a:latin typeface="Calibri" panose="020F0502020204030204" pitchFamily="34" charset="0"/>
                  <a:ea typeface="Aptos" panose="020B0004020202020204" pitchFamily="34" charset="0"/>
                </a:rPr>
                <a:t>ETC </a:t>
              </a:r>
              <a:endParaRPr lang="es-ES" sz="800" dirty="0"/>
            </a:p>
          </p:txBody>
        </p: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3CA9C787-29BA-1DE0-981F-D5A3C9D0CFA1}"/>
              </a:ext>
            </a:extLst>
          </p:cNvPr>
          <p:cNvGrpSpPr/>
          <p:nvPr/>
        </p:nvGrpSpPr>
        <p:grpSpPr>
          <a:xfrm>
            <a:off x="2108102" y="865674"/>
            <a:ext cx="364202" cy="364752"/>
            <a:chOff x="3575484" y="1050203"/>
            <a:chExt cx="364203" cy="377078"/>
          </a:xfrm>
        </p:grpSpPr>
        <p:sp>
          <p:nvSpPr>
            <p:cNvPr id="67" name="Pentágono 66">
              <a:extLst>
                <a:ext uri="{FF2B5EF4-FFF2-40B4-BE49-F238E27FC236}">
                  <a16:creationId xmlns:a16="http://schemas.microsoft.com/office/drawing/2014/main" id="{47F8669E-D918-21DA-A9DD-7A93B3FA140E}"/>
                </a:ext>
              </a:extLst>
            </p:cNvPr>
            <p:cNvSpPr/>
            <p:nvPr/>
          </p:nvSpPr>
          <p:spPr bwMode="auto">
            <a:xfrm>
              <a:off x="3575484" y="1050203"/>
              <a:ext cx="364202" cy="377078"/>
            </a:xfrm>
            <a:prstGeom prst="pentagon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75A14477-8D23-6C4B-776B-0558D2A71602}"/>
                </a:ext>
              </a:extLst>
            </p:cNvPr>
            <p:cNvSpPr txBox="1"/>
            <p:nvPr/>
          </p:nvSpPr>
          <p:spPr>
            <a:xfrm>
              <a:off x="3592997" y="1149896"/>
              <a:ext cx="34669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effectLst/>
                  <a:latin typeface="Calibri" panose="020F0502020204030204" pitchFamily="34" charset="0"/>
                  <a:ea typeface="Aptos" panose="020B0004020202020204" pitchFamily="34" charset="0"/>
                </a:rPr>
                <a:t>ETC </a:t>
              </a:r>
              <a:endParaRPr lang="es-ES" sz="800" dirty="0"/>
            </a:p>
          </p:txBody>
        </p:sp>
      </p:grpSp>
      <p:sp>
        <p:nvSpPr>
          <p:cNvPr id="69" name="CuadroTexto 68">
            <a:extLst>
              <a:ext uri="{FF2B5EF4-FFF2-40B4-BE49-F238E27FC236}">
                <a16:creationId xmlns:a16="http://schemas.microsoft.com/office/drawing/2014/main" id="{46FB9555-F3BC-28A9-290D-1F6E8CE3555A}"/>
              </a:ext>
            </a:extLst>
          </p:cNvPr>
          <p:cNvSpPr txBox="1"/>
          <p:nvPr/>
        </p:nvSpPr>
        <p:spPr>
          <a:xfrm rot="16200000">
            <a:off x="3146158" y="3321278"/>
            <a:ext cx="4106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ENA1</a:t>
            </a:r>
            <a:endParaRPr lang="es-ES" sz="800" dirty="0"/>
          </a:p>
        </p:txBody>
      </p:sp>
      <p:sp>
        <p:nvSpPr>
          <p:cNvPr id="70" name="Cilindro 69">
            <a:extLst>
              <a:ext uri="{FF2B5EF4-FFF2-40B4-BE49-F238E27FC236}">
                <a16:creationId xmlns:a16="http://schemas.microsoft.com/office/drawing/2014/main" id="{93AB33FA-62D5-39FE-AF82-FAA5F06089D9}"/>
              </a:ext>
            </a:extLst>
          </p:cNvPr>
          <p:cNvSpPr/>
          <p:nvPr/>
        </p:nvSpPr>
        <p:spPr bwMode="auto">
          <a:xfrm>
            <a:off x="2899011" y="2295685"/>
            <a:ext cx="232818" cy="452270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0A099D1E-1578-5FE3-8514-77A7333356C3}"/>
              </a:ext>
            </a:extLst>
          </p:cNvPr>
          <p:cNvSpPr txBox="1"/>
          <p:nvPr/>
        </p:nvSpPr>
        <p:spPr>
          <a:xfrm rot="16200000">
            <a:off x="2834054" y="2424789"/>
            <a:ext cx="3754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 err="1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ctpA</a:t>
            </a:r>
            <a:endParaRPr lang="es-ES" sz="800" dirty="0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7FA9D822-C8C6-3A3D-2C56-F2C27B613255}"/>
              </a:ext>
            </a:extLst>
          </p:cNvPr>
          <p:cNvSpPr txBox="1"/>
          <p:nvPr/>
        </p:nvSpPr>
        <p:spPr>
          <a:xfrm>
            <a:off x="2741610" y="2619536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 err="1"/>
              <a:t>Reticulum</a:t>
            </a:r>
            <a:r>
              <a:rPr lang="es-ES" dirty="0"/>
              <a:t> 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B0D212B9-9590-A759-A0AB-E881254FC176}"/>
              </a:ext>
            </a:extLst>
          </p:cNvPr>
          <p:cNvSpPr txBox="1"/>
          <p:nvPr/>
        </p:nvSpPr>
        <p:spPr>
          <a:xfrm>
            <a:off x="2569124" y="2075695"/>
            <a:ext cx="3561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/>
              <a:t>Cu</a:t>
            </a:r>
            <a:r>
              <a:rPr lang="es-ES" sz="800" baseline="30000" dirty="0"/>
              <a:t>+</a:t>
            </a:r>
          </a:p>
        </p:txBody>
      </p:sp>
      <p:sp>
        <p:nvSpPr>
          <p:cNvPr id="74" name="Flecha: curvada hacia arriba 73">
            <a:extLst>
              <a:ext uri="{FF2B5EF4-FFF2-40B4-BE49-F238E27FC236}">
                <a16:creationId xmlns:a16="http://schemas.microsoft.com/office/drawing/2014/main" id="{8FD54F5B-8B6D-31CE-659E-AD665821D2C7}"/>
              </a:ext>
            </a:extLst>
          </p:cNvPr>
          <p:cNvSpPr/>
          <p:nvPr/>
        </p:nvSpPr>
        <p:spPr bwMode="auto">
          <a:xfrm>
            <a:off x="2779694" y="2211924"/>
            <a:ext cx="316142" cy="132874"/>
          </a:xfrm>
          <a:prstGeom prst="curved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E9D87558-CC04-A9E6-DADE-E4FC14C9678C}"/>
              </a:ext>
            </a:extLst>
          </p:cNvPr>
          <p:cNvSpPr txBox="1"/>
          <p:nvPr/>
        </p:nvSpPr>
        <p:spPr>
          <a:xfrm>
            <a:off x="2942699" y="2044335"/>
            <a:ext cx="3706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/>
              <a:t>Cr</a:t>
            </a:r>
            <a:r>
              <a:rPr lang="es-ES" sz="800" baseline="30000" dirty="0"/>
              <a:t>3+</a:t>
            </a:r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B446F425-558B-C5BA-2D27-C06E2009DC48}"/>
              </a:ext>
            </a:extLst>
          </p:cNvPr>
          <p:cNvSpPr/>
          <p:nvPr/>
        </p:nvSpPr>
        <p:spPr bwMode="auto">
          <a:xfrm>
            <a:off x="4790323" y="1230426"/>
            <a:ext cx="619824" cy="404015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4CE0BBD0-6C9F-E6F7-D40D-FAEEC564D9AE}"/>
              </a:ext>
            </a:extLst>
          </p:cNvPr>
          <p:cNvSpPr/>
          <p:nvPr/>
        </p:nvSpPr>
        <p:spPr bwMode="auto">
          <a:xfrm>
            <a:off x="4455715" y="1477449"/>
            <a:ext cx="576431" cy="353925"/>
          </a:xfrm>
          <a:prstGeom prst="ellips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sz="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CAP1</a:t>
            </a:r>
            <a:endParaRPr kumimoji="0" lang="es-ES" sz="8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6568791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10.0.14393.0"/>
  <p:tag name="AS_RELEASE_DATE" val="2019.01.14"/>
  <p:tag name="AS_TITLE" val="Aspose.Slides for .NET 4.0"/>
  <p:tag name="AS_VERSION" val="19.1"/>
</p:tagLst>
</file>

<file path=ppt/theme/theme1.xml><?xml version="1.0" encoding="utf-8"?>
<a:theme xmlns:a="http://schemas.openxmlformats.org/drawingml/2006/main" name="13_Office Theme">
  <a:themeElements>
    <a:clrScheme name="13_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3_Office Theme">
      <a:majorFont>
        <a:latin typeface="Times New Roman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lnDef>
  </a:objectDefaults>
  <a:extraClrSchemeLst>
    <a:extraClrScheme>
      <a:clrScheme name="13_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4556</TotalTime>
  <Words>193</Words>
  <Application>Microsoft Office PowerPoint</Application>
  <PresentationFormat>Presentación en pantalla (4:3)</PresentationFormat>
  <Paragraphs>49</Paragraphs>
  <Slides>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13_Office Theme</vt:lpstr>
      <vt:lpstr>Figure 9 Interactions of Cr(VI) with the most important eukaryotic (a) and prokaryotic (b) model microorganisms.
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Oxford University Press Figure</dc:title>
  <dc:creator>cristy medina armijo</dc:creator>
  <cp:lastModifiedBy>cristy medina armijo</cp:lastModifiedBy>
  <cp:revision>169</cp:revision>
  <dcterms:created xsi:type="dcterms:W3CDTF">2015-12-31T14:57:12Z</dcterms:created>
  <dcterms:modified xsi:type="dcterms:W3CDTF">2024-04-23T14:07:00Z</dcterms:modified>
</cp:coreProperties>
</file>